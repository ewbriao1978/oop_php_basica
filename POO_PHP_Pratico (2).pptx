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977640"/>
            <a:ext cx="8778240" cy="11658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548640"/>
            <a:ext cx="3291840" cy="3291840"/>
          </a:xfrm>
          <a:prstGeom prst="ellipse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91440"/>
            <a:ext cx="1920240" cy="1920240"/>
          </a:xfrm>
          <a:prstGeom prst="ellipse">
            <a:avLst/>
          </a:prstGeom>
          <a:solidFill>
            <a:srgbClr val="8B5CF6">
              <a:alpha val="17000"/>
            </a:srgbClr>
          </a:solidFill>
          <a:ln w="12700">
            <a:solidFill>
              <a:srgbClr val="8B5CF6">
                <a:alpha val="3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🐘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Objetos em PHP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1938528" cy="338328"/>
          </a:xfrm>
          <a:prstGeom prst="roundRect">
            <a:avLst>
              <a:gd name="adj" fmla="val 16216"/>
            </a:avLst>
          </a:prstGeom>
          <a:solidFill>
            <a:srgbClr val="6C2BD9">
              <a:alpha val="4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20440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Encapsulamento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3520440"/>
            <a:ext cx="1938528" cy="338328"/>
          </a:xfrm>
          <a:prstGeom prst="roundRect">
            <a:avLst>
              <a:gd name="adj" fmla="val 16216"/>
            </a:avLst>
          </a:prstGeom>
          <a:solidFill>
            <a:srgbClr val="6C2BD9">
              <a:alpha val="4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520440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Herança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3520440"/>
            <a:ext cx="1938528" cy="338328"/>
          </a:xfrm>
          <a:prstGeom prst="roundRect">
            <a:avLst>
              <a:gd name="adj" fmla="val 16216"/>
            </a:avLst>
          </a:prstGeom>
          <a:solidFill>
            <a:srgbClr val="6C2BD9">
              <a:alpha val="4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520440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Abstração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3520440"/>
            <a:ext cx="1938528" cy="338328"/>
          </a:xfrm>
          <a:prstGeom prst="roundRect">
            <a:avLst>
              <a:gd name="adj" fmla="val 16216"/>
            </a:avLst>
          </a:prstGeom>
          <a:solidFill>
            <a:srgbClr val="6C2BD9">
              <a:alpha val="4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520440"/>
            <a:ext cx="1938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Getters &amp; Setters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7315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Exemplos Práticos para Aula  ·  ADS — IFRS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4622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A1"/>
                </a:solidFill>
              </a:rPr>
              <a:t>Instituto Federal do Rio Grande do Sul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O que vamos aprender hoje?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AAAA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Classes &amp; Objetos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09397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Estrutura base da POO em PHP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97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697480" cy="45720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AAAA"/>
                </a:solidFill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Encapsulamento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209397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private, protected, public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97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60120"/>
            <a:ext cx="26974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AAAA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Getters &amp; Setters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1463040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72200" y="209397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Controle de acesso com validação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53512"/>
            <a:ext cx="2697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53512"/>
            <a:ext cx="269748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AAAA"/>
                </a:solidFill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2953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Herança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4564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11480" y="40873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extends e parent::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953512"/>
            <a:ext cx="2697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53512"/>
            <a:ext cx="269748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AAAA"/>
                </a:solidFill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57600" y="2953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Abstração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0" y="34564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291840" y="40873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abstract class e interface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953512"/>
            <a:ext cx="26974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53512"/>
            <a:ext cx="26974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AAAA"/>
                </a:solidFill>
              </a:rPr>
              <a:t>06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37960" y="2953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Projeto Completo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080760" y="3456432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172200" y="408736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Sistema de loja online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Classes &amp; Objetos — A Base de Tudo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Conceito Fundamental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86868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2BD9"/>
                </a:solidFill>
              </a:rPr>
              <a:t>🏭  Classe = Molde / Planta baixa     |     🏠  Objeto = Instância criada a partir do molde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527048"/>
            <a:ext cx="41605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2704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📄  Definindo a Classe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856232"/>
            <a:ext cx="4160520" cy="305409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39776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Definição da CLASSE (o molde)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Carro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Atributos (propriedades)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$marca;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$modelo;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   $ano;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float  $velocidade = 0;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Construtor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$marca,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$modelo,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   $ano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$this-&gt;marca    = $marca;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$this-&gt;modelo   = $modelo;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$this-&gt;ano      = $ano;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Método (comportamento)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acelerar(float $km):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$this-&gt;velocidade += $km;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"Vel: {$this-&gt;velocidade} km/h\n";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frear():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$this-&gt;velocidade = 0;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"Carro parado.\n";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572000" y="1527048"/>
            <a:ext cx="434340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2704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🚀  Criando Objetos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856232"/>
            <a:ext cx="4343400" cy="181965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0240"/>
            <a:ext cx="416052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Criando OBJETOS (instâncias)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$c1 = new Carro("Toyota", "Corolla", 2022);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$c2 = new Carro("Honda",  "Civic",   2023);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Usando os objetos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$c1-&gt;acelerar(60);  // Vel: 60 km/h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$c1-&gt;acelerar(40);  // Vel: 100 km/h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$c1-&gt;frear();       // Carro parado.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objeto é independente!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$c1-&gt;marca; // Toyota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$c2-&gt;marca; // Honda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$c2-&gt;velocidade; // 0 (não foi alterado)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572000" y="3767328"/>
            <a:ext cx="434340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7673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📌  Sintaxe Essencial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4096512"/>
            <a:ext cx="4343400" cy="81381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160520"/>
            <a:ext cx="4160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Referência rápida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$obj = new NomeDaClasse(args);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$obj-&gt;atributo      // leitura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$obj-&gt;atributo = x  // escrita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$obj-&gt;metodo()      // chamada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$this-&gt;atributo     // dentro da classe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0EA5E9">
              <a:alpha val="13000"/>
            </a:srgbClr>
          </a:solidFill>
          <a:ln w="12700">
            <a:solidFill>
              <a:srgbClr val="0EA5E9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C4A6E"/>
                </a:solidFill>
              </a:rPr>
              <a:t>💡  $this refere-se ao objeto atual dentro da classe. Cada instância tem cópias independentes dos seus atributos.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Encapsulamento — Protegendo os Dados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private · protected · public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Encapsulamento esconde detalhes internos de uma classe. Atributos devem ser private — o acesso externo é controlado via métodos.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8686800" cy="98755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463040"/>
            <a:ext cx="73152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361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 private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Acessível APENAS dentro da própria classe.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664208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Ex: Saldo bancário, senha hash, CPF, dados sensíveis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560320"/>
            <a:ext cx="8686800" cy="98755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560320"/>
            <a:ext cx="7315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🟡  protected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Acessível na classe e em subclasses (herança).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761488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7614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Ex: Nome base, configurações internas herdáveis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8686800" cy="98755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657600"/>
            <a:ext cx="73152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307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 public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Acessível de qualquer lugar do código.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858768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8587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Ex: Getters, setters, métodos de interface pública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828032"/>
            <a:ext cx="8686800" cy="246888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828032"/>
            <a:ext cx="64008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846320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78350F"/>
                </a:solidFill>
              </a:rPr>
              <a:t>⚠️  Regra de ouro: SEMPRE declare atributos como private. Use public apenas para métodos de interface. Nunca exponha dados diretamente!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Encapsulamento na Prática — Conta Bancária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Exemplo Prático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8920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🏦  ContaBancaria.php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4892040" cy="36210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53312"/>
            <a:ext cx="47091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ContaBancaria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$titular;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$saldo;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$agencia;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array  $extrato = [];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$titular,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 $saldoInicial,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$agencia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$this-&gt;titular = $titular;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$this-&gt;saldo   = $saldoInicial;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$this-&gt;agencia = $agencia;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depositar(float $valor):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($valor &lt;= 0)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Exception("Valor inválido");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$this-&gt;saldo += $valor;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$this-&gt;extrato[] = "+{$valor}";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"Depósito de R$ {$valor} realizado.\n";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sacar(float $valor):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($valor &lt;= 0)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Exception("Valor inválido");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($valor &gt; $this-&gt;saldo)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Exception("Saldo insuficiente");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$this-&gt;saldo -= $valor;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$this-&gt;extrato[] = "-{$valor}";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── GETTERS (leitura segura) 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getSaldo(): float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$this-&gt;saldo;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getTitular():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$this-&gt;titular;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getExtrato(): array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$this-&gt;extrato;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212080" y="960120"/>
            <a:ext cx="37033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9601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Usando a Classe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1289304"/>
            <a:ext cx="3703320" cy="181965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353312"/>
            <a:ext cx="35204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$conta = new ContaBancaria(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"Ana Paula",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1000.00,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"0042"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$conta-&gt;depositar(500.00);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Depósito de R$ 500 realizado.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$conta-&gt;getSaldo(); // 1500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$conta-&gt;sacar(200.00);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$conta-&gt;getSaldo(); // 1300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print_r($conta-&gt;getExtrato());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["+500", "-200"]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ERRO: acesso bloqueado!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$conta-&gt;saldo = 99999; // Fatal Error!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echo $conta-&gt;saldo;    // Fatal Error!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212080" y="3200400"/>
            <a:ext cx="37033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2004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🔒  Por que encapsular?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3529584"/>
            <a:ext cx="3703320" cy="138074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593592"/>
            <a:ext cx="35204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Sem encapsulamento (PERIGOSO) 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$conta-&gt;saldo -= 999999;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qualquer código pode zerar a conta!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Com encapsulamento (SEGURO) 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$conta-&gt;sacar(999999);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$e)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$e-&gt;getMessage();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Saldo insuficiente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(dados protegidos pela validação)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4E3B"/>
                </a:solidFill>
              </a:rPr>
              <a:t>✅  Com private, nenhum código externo acessa $saldo diretamente — toda operação passa pela validação dos métodos públicos.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Getters &amp; Setters — Controle de Acesso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Exemplo: Cadastro de Produto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8920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 Produto.php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4892040" cy="36210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53312"/>
            <a:ext cx="47091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$preco;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$estoque;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$categoria;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   float $preco,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   $estoque, string $cat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$this-&gt;setNome($nome);       // usa setter!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$this-&gt;setPreco($preco);     // valida já no ctor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$this-&gt;setEstoque($estoque);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$this-&gt;categoria = $cat;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─── GETTERS 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getNome():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getPreco(): float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$this-&gt;preco;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getEstoque(): int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$this-&gt;estoque;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 calculado (sem atributo próprio!)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getPrecoFormatado():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"R$ " . number_format(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$this-&gt;preco, 2, ",", "."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─── SETTERS com validação 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setNome(string $nome):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$nome = trim($nome);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(empty($nome))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Exception("Nome inválido");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$this-&gt;nome = $nome;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setPreco(float $preco):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($preco &lt; 0)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Exception("Preço negativo");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$this-&gt;preco = round($preco, 2);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setEstoque(int $qtd):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($qtd &lt; 0)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Exception("Estoque negativo");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$this-&gt;estoque = $qtd;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212080" y="960120"/>
            <a:ext cx="37033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9601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🛒  Usando Produto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1289304"/>
            <a:ext cx="3703320" cy="209397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353312"/>
            <a:ext cx="35204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Produto(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Notebook Dell  ", // será trimado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3499.99,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"Informatica"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GETTERS — leitura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$p-&gt;getNome();           // "Notebook Dell"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$p-&gt;getPreco();          // 3499.99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$p-&gt;getPrecoFormatado(); // "R$ 3.499,99"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$p-&gt;getEstoque();        // 10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SETTERS — alteração com validação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$p-&gt;setPreco(3299.90);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$p-&gt;getPrecoFormatado(); // "R$ 3.299,90"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Setter bloqueia valores inválidos: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$p-&gt;setNome("   "); // Exception: Nome inválido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$p-&gt;setPreco(-10);  // Exception: Preço negativo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212080" y="3474720"/>
            <a:ext cx="37033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4747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💡  Getter Calculado e Validação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3803904"/>
            <a:ext cx="3703320" cy="11064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867912"/>
            <a:ext cx="3520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SEM setter (ruim) 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$p-&gt;preco = -999; // sem validação nenhuma!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COM setter (correto) 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$p-&gt;setPreco(-999);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Exception: Preço negativo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(setter protegeu a integridade dos dados)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getter calculado: lógica centralizada!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o formato mudar, muda em 1 lugar só.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0EA5E9">
              <a:alpha val="13000"/>
            </a:srgbClr>
          </a:solidFill>
          <a:ln w="12700">
            <a:solidFill>
              <a:srgbClr val="0EA5E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C4A6E"/>
                </a:solidFill>
              </a:rPr>
              <a:t>💡  Setters formatam (trim), validam (&gt;= 0) e transformam dados. Getters calculados encapsulam lógica de exibição sem atributo extra.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Herança — Reutilizando e Extendendo Código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extends · parent::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Herança permite que uma classe filha herde atributos e métodos da classe pai, podendo adicionar novos recursos ou sobrescrever comportamentos.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71800" y="1463040"/>
            <a:ext cx="320040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71800" y="14630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Usuario (classe pai)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21031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nome, email, login(), logout(), getNome()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40864"/>
            <a:ext cx="0" cy="3200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060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C2BD9"/>
                </a:solidFill>
              </a:rPr>
              <a:t>extends 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2834640"/>
            <a:ext cx="62179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28346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17520"/>
            <a:ext cx="2377440" cy="566928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017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👑 Admin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2102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permissoes[]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bloqueiarConta()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gerenciar()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28346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3017520"/>
            <a:ext cx="237744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3017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🧑 Cliente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362102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carrinho[]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fazerPedido()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verHistorico()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69480" y="283464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017520"/>
            <a:ext cx="2377440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3017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🚚 Entregador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62102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rota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aceitarEntrega()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confirmar()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251960"/>
            <a:ext cx="868680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976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2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5628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declara herança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42976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2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parent::__construct()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45628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chama ctor do pai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2976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2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parent::metodo()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5628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chama método do pai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2280" y="42976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2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12280" y="45628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visível nas filhas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Herança na Prática — Sistema de Usuários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Exemplo Prático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👤  Usuario.php (pai)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4160520" cy="36210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53312"/>
            <a:ext cx="397764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CLASSE PAI 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Usuario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$nome;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$email;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  string $senhaHash;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$email,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$senha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$this-&gt;nome      = $nome;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$this-&gt;email     = $email;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$this-&gt;senhaHash = password_hash(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$senha, PASSWORD_DEFAULT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login(string $s): bool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password_verify($s, $this-&gt;senhaHash);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getNome():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getEmail():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$this-&gt;email;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__toString():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"[{$this-&gt;nome}] &lt;{$this-&gt;email}&gt;";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480560" y="96012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601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👑  Admin.php (filha)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289304"/>
            <a:ext cx="4434840" cy="209397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53312"/>
            <a:ext cx="42519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FILHA: Admin 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Admin extends Usuario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array $permissoes;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  string $email,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$senha, array  $perm = []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parent::__construct($nome, $email, $senha);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$this-&gt;permissoes = $perm;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temPermissao(string $p): bool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in_array($p, $this-&gt;permissoes);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bloquearUsuario(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Usuario $u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(!$this-&gt;temPermissao("bloquear"))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Exception("Sem permissão");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$this-&gt;nome herdado de Usuario!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"{$this-&gt;nome} bloqueou {$u-&gt;getNome()}\n";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347472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4747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🚀  Testando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803904"/>
            <a:ext cx="4434840" cy="11064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67912"/>
            <a:ext cx="42519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$admin = new Admin("João", "joao@ifrs.edu.br",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"abc123", ["bloquear","gerenciar"]);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  = new Usuario("Ana", "ana@mail.com", "xyz");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 herdado automaticamente pelo Admin!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var_dump($admin-&gt;login("abc123")); // bool(true)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$admin-&gt;bloquearUsuario($user);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João bloqueou Ana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$admin; // [João] &lt;joao@ifrs.edu.br&gt;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__toString() também é herdado!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0EA5E9">
              <a:alpha val="13000"/>
            </a:srgbClr>
          </a:solidFill>
          <a:ln w="12700">
            <a:solidFill>
              <a:srgbClr val="0EA5E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C4A6E"/>
                </a:solidFill>
              </a:rPr>
              <a:t>🧬  Admin herda login(), getNome(), getEmail() e __toString() sem reescrever nada. protected permite $this-&gt;nome nas subclasses.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Sobrescrita de Métodos (Override)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Personalizando comportamentos herdados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🔔  Notificacao.php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4160520" cy="36210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53312"/>
            <a:ext cx="397764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CLASSE PAI 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Notificacao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$dest;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$msg;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$dest, string $msg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$this-&gt;dest = $dest;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$this-&gt;msg  = $msg;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Será SOBRESCRITO pelas filhas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enviar():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"Enviando para {$this-&gt;dest}\n";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getResumo():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"Para: {$this-&gt;dest} | {$this-&gt;msg}";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EMAIL ─────────────────────────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NotificacaoEmail extends Notificacao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$assunto;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$dest, string $msg,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$assunto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parent::__construct($dest, $msg);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$this-&gt;assunto = $assunto;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OVERRIDE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enviar():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"📧 Email [{$this-&gt;assunto}]";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 → {$this-&gt;dest}\n";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480560" y="96012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601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📱  SMS &amp; Push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289304"/>
            <a:ext cx="4434840" cy="181965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53312"/>
            <a:ext cx="42519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SMS ───────────────────────────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NotificacaoSMS extends Notificacao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$telefone;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$dest, string $msg,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$tel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parent::__construct($dest, $msg);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$this-&gt;telefone = $tel;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OVERRIDE diferente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enviar():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$curta = substr($this-&gt;msg, 0, 160);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"📱 SMS [{$this-&gt;telefone}]: {$curta}\n";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NotificacaoPush extends Notificacao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OVERRIDE simples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enviar():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echo "🔔 Push → {$this-&gt;dest}: {$this-&gt;msg}\n";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2004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🧪  Polimorfismo em ação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9584"/>
            <a:ext cx="4434840" cy="138074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593592"/>
            <a:ext cx="42519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Polimorfismo em ação 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$lista = [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NotificacaoEmail(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"Ana", "Pedido chegou!", "Pedido #42"),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NotificacaoSMS(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"Ana", "Pedido chegou!", "51999887766"),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NotificacaoPush(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"Ana", "Pedido chegou!"),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($lista as $n)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$n-&gt;enviar(); // cada um envia do SEU jeito!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📧 Email [Pedido #42] → Ana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📱 SMS [51999887766]: Pedido chegou!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🔔 Push → Ana: Pedido chegou!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4E3B"/>
                </a:solidFill>
              </a:rPr>
              <a:t>🎯  Isso é Polimorfismo! O mesmo método enviar() tem comportamento diferente em cada filha — sem if/else, código limpo e extensível.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Abstração — Classes Abstratas e Interfaces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abstract · interface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Abstração define o 'contrato' — o que uma classe DEVE fazer, sem ditar como faz. Força subclasses a implementar comportamentos obrigatórios.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4206240" cy="33649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81328"/>
            <a:ext cx="4206240" cy="45720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481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🏛️  abstract class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Declarada com abstract class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NÃO pode ser instanciada diretamente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980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Pode ter métodos concretos E abstratos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Pode ter atributos de instância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027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Subclasse DEVE implementar abstratos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Apenas herança simples (uma classe)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407408"/>
            <a:ext cx="4023360" cy="365760"/>
          </a:xfrm>
          <a:prstGeom prst="rect">
            <a:avLst/>
          </a:prstGeom>
          <a:solidFill>
            <a:srgbClr val="6C2BD9">
              <a:alpha val="12000"/>
            </a:srgbClr>
          </a:solidFill>
          <a:ln w="12700">
            <a:solidFill>
              <a:srgbClr val="6C2BD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407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✅  Quando: hierarquia com código compartilhado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481328"/>
            <a:ext cx="4206240" cy="33649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481328"/>
            <a:ext cx="420624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481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 interface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993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Declarada com interface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Todos os métodos são públicos e abstratos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7980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Sem atributos de instância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Uma classe pode implements várias interfaces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Define contrato de comportamento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005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PHP 8+: constantes em interfaces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4407408"/>
            <a:ext cx="4023360" cy="36576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407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✅  Quando: comportamento transversal entre classes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Abstração na Prática — Sistema de Pagamentos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Exemplo Prático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💳  Pagamento.php (abstrato + concreto)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4160520" cy="36210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53312"/>
            <a:ext cx="397764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ABSTRATA 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Pagamento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float  $valor;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$descricao;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$valor, string $desc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$this-&gt;valor      = $valor;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$this-&gt;descricao  = $desc;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Métodos ABSTRATOS — obrigatórios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public function processar(): bool;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public function getTipo(): string;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Método CONCRETO — compartilhado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getRecibo():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$ok = $this-&gt;processar()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? "✅ APROVADO" : "❌ NEGADO";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sprintf(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"[%s] %s — R$ %.2f → %s",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$this-&gt;getTipo(),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$this-&gt;descricao,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$this-&gt;valor,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$ok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CARTÃO ────────────────────────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PagamentoCartao extends Pagamento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$numero;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$cvv;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$v, string $d,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$num, int $cvv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parent::__construct($v, $d);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$this-&gt;numero = $num;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$this-&gt;cvv    = $cvv;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processar(): bool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strlen($this-&gt;numero) === 16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&amp;&amp; $this-&gt;cvv &gt; 0;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getTipo():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"CARTÃO";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480560" y="96012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601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🏧  Pix &amp; Boleto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289304"/>
            <a:ext cx="4434840" cy="200253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53312"/>
            <a:ext cx="425196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PIX ───────────────────────────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PagamentoPix extends Pagamento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$chave;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$v, string $d, string $ch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parent::__construct($v, $d);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$this-&gt;chave = $ch;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processar(): bool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!empty($this-&gt;chave);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getTipo():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"PIX";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BOLETO ────────────────────────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PagamentoBoleto extends Pagamento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processar(): bool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false; // aguarda compensação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getTipo():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"BOLETO";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338328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38328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🧪  Testando todos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712464"/>
            <a:ext cx="4434840" cy="119786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77647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$pagamentos = [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PagamentoCartao(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150.00, "Pedido #1", "1234567890123456", 321),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PagamentoPix(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89.90, "Pedido #2", "joao@pix.com"),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PagamentoBoleto(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220.00, "Pedido #3"),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($pagamentos as $p)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$p-&gt;getRecibo() . "\n";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[CARTÃO]  Pedido #1 — R$ 150,00 → ✅ APROVADO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[PIX]     Pedido #2 — R$  89,90 → ✅ APROVADO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[BOLETO]  Pedido #3 — R$ 220,00 → ❌ NEGADO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6C2BD9">
              <a:alpha val="13000"/>
            </a:srgbClr>
          </a:solidFill>
          <a:ln w="12700">
            <a:solidFill>
              <a:srgbClr val="6C2BD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B0764"/>
                </a:solidFill>
              </a:rPr>
              <a:t>📐  new Pagamento() geraria Fatal Error — intencional! Ela só existe como contrato. getRecibo() funciona pois chama processar() implementado nas filhas.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Interface na Prática — Relatórios Exportáveis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Exemplo Prático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📊  Exportavel.php + RelatorioVendas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289304"/>
            <a:ext cx="4160520" cy="36210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53312"/>
            <a:ext cx="397764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INTERFACE ─────────────────────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Exportavel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exportarCSV(): string;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exportarJSON(): string;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getTitulo(): string;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Relatório de Vendas ───────────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RelatorioVendas implements Exportavel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array $vendas;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__construct(array $vendas)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$this-&gt;vendas = $vendas;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getTitulo():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"Relatório de Vendas";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exportarCSV():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$csv = "produto,valor,data\n";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($this-&gt;vendas as $v)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$csv .= "{$v['produto']},";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$csv .= "{$v['valor']},";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$csv .= "{$v['data']}\n";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$csv;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exportarJSON():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json_encode(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$this-&gt;vendas,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JSON_PRETTY_PRINT |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JSON_UNESCAPED_UNICODE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480560" y="96012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601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 RelatorioEstoque.php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289304"/>
            <a:ext cx="4434840" cy="2093976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53312"/>
            <a:ext cx="42519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Relatório de Estoque ──────────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RelatorioEstoque implements Exportavel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array $itens;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__construct(array $itens)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$this-&gt;itens = $itens;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getTitulo():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"Relatório de Estoque";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exportarCSV():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$csv = "produto,qtd,min\n";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($this-&gt;itens as $i)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$csv .= "{$i['nome']},";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$csv .= "{$i['qtd']},";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$csv .= "{$i['min']}\n";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$csv;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exportarJSON():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json_encode($this-&gt;itens,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JSON_PRETTY_PRINT);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347472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47472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🚀  Função genérica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803904"/>
            <a:ext cx="4434840" cy="110642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67912"/>
            <a:ext cx="42519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Função aceita qualquer Exportavel!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salvarRelatorio(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Exportavel $rel, string $formato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"=== {$rel-&gt;getTitulo()} ===\n";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$formato === "csv"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$rel-&gt;exportarCSV()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$rel-&gt;exportarJSON();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 = new RelatorioVendas([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["produto"=&gt;"Notebook","valor"=&gt;3500,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"data"=&gt;"2024-01-10"],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 = new RelatorioEstoque([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["nome"=&gt;"Mouse","qtd"=&gt;50,"min"=&gt;10],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salvarRelatorio($v, "csv");   // funciona!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salvarRelatorio($e, "json");  // funciona!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28600" y="4956048"/>
            <a:ext cx="8686800" cy="246888"/>
          </a:xfrm>
          <a:prstGeom prst="rect">
            <a:avLst/>
          </a:prstGeom>
          <a:solidFill>
            <a:srgbClr val="0EA5E9">
              <a:alpha val="13000"/>
            </a:srgbClr>
          </a:solidFill>
          <a:ln w="12700">
            <a:solidFill>
              <a:srgbClr val="0EA5E9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4956048"/>
            <a:ext cx="64008" cy="2468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97433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C4A6E"/>
                </a:solidFill>
              </a:rPr>
              <a:t>📋  salvarRelatorio() aceita qualquer objeto Exportavel — não importa o tipo. Adicionar RelatorioFinanceiro não muda nada na função.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Projeto Completo — Loja Online 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"/>
            <a:ext cx="2240280" cy="475488"/>
          </a:xfrm>
          <a:prstGeom prst="roundRect">
            <a:avLst>
              <a:gd name="adj" fmla="val 11538"/>
            </a:avLst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5544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Todos os conceitos juntos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Todos os pilares trabalhando juntos: private + getters/setters + abstract + extends em um mini-sistema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99032"/>
            <a:ext cx="416052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990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🏗️  ItemLoja.php (base)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28216"/>
            <a:ext cx="4160520" cy="3364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92224"/>
            <a:ext cx="3977640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Abstract + Encapsulamento 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ItemLoja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$nome;    // private!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$preco;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 float $preco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$this-&gt;setNome($nome);   // setter já valida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$this-&gt;setPreco($preco);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Getters / Setters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getNome():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$this-&gt;nome;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setNome(string $n):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$n = trim($n);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(empty($n))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Exception("Nome inválido");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$this-&gt;nome = $n;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getPreco(): float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$this-&gt;preco;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setPreco(float $p): void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($p &lt; 0)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Exception("Preço negativo");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$this-&gt;preco = round($p, 2);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getPrecoFormatado():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"R$ " . number_format(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$this-&gt;preco, 2, ",", "."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Abstração — obrigatório nas filhas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public function getDescricao(): string;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public function getTipo(): string;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Concreto — compartilhado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exibir():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sprintf(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"[%s] %s — %s\n%s",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$this-&gt;getTipo(),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$this-&gt;getNome(),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$this-&gt;getPrecoFormatado(),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$this-&gt;getDescricao()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480560" y="1399032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9903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 ProdutoFisico &amp; ProdutoDigital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1728216"/>
            <a:ext cx="4434840" cy="197510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92224"/>
            <a:ext cx="42519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Herança: Produto Físico ────────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ProdutoFisico extends ItemLoja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$peso; // em kg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 float $preco, float $peso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parent::__construct($nome, $preco);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($peso &lt;= 0)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Exception("Peso inválido");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$this-&gt;peso = $peso;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getDescricao():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"Físico | {$this-&gt;peso}kg";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getTipo():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"FÍSICO";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calcularFrete(): float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round($this-&gt;peso * 15.0, 2);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Herança: Produto Digital ───────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ProdutoDigital extends ItemLoja {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$link;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 float $preco, string $link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parent::__construct($nome, $preco);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$this-&gt;link = $link;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getDescricao():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"Digital | Download: {$this-&gt;link}";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getTipo(): string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"DIGITAL";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480560" y="3794760"/>
            <a:ext cx="4434840" cy="32918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7947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🛒  Usando o sistema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4123944"/>
            <a:ext cx="44348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2D2D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187952"/>
            <a:ext cx="4251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 = new ProdutoFisico("Monitor 27"", 1299.99, 3.5);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 = new ProdutoDigital("Curso PHP", 89.90,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"ifrs.edu.br/php");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$f-&gt;exibir();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[FÍSICO]  Monitor 27" — R$ 1.299,99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Físico | 3.5kg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"Frete: R$ " . $f-&gt;calcularFrete() . "\n"; // 52.5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$d-&gt;exibir();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[DIGITAL] Curso PHP — R$ 89,90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Digital | Download: ifrs.edu.br/php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28600" y="5093208"/>
            <a:ext cx="8686800" cy="24688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5093208"/>
            <a:ext cx="64008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5111496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4E3B"/>
                </a:solidFill>
              </a:rPr>
              <a:t>🏆  private + setters (validação) + extends (herança) + abstract (contrato) = código seguro, reutilizável e fácil de ampliar!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Resumo Rápido — PHP POO Cheatsheet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251960" cy="384048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Encapsulamento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40690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string $saldo;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getSaldo(): float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$this-&gt;saldo;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setSaldo(float $v): void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($v &gt;= 0) $this-&gt;saldo = $v;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25196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🧬  Herança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389888"/>
            <a:ext cx="40690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Admin extends Usuario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 string $email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parent::__construct($nome, $email);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código adicional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28600" y="297180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971800"/>
            <a:ext cx="425196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 Classe Abstrata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401568"/>
            <a:ext cx="40690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Pagamento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public function processar(): bool;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public function getTipo(): string;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getRecibo(): string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usa processar() e getTipo()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Interface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01568"/>
            <a:ext cx="40690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Exportavel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exportarCSV(): string;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exportarJSON(): string;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Relatorio implements Exportavel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exportarCSV(): string { ...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exportarJSON(): string { ...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28600" y="4864608"/>
            <a:ext cx="868680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86460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🎯  Próximo passo: Polimorfismo, Traits, Namespaces e Design Patterns (Repository, Factory, Singleton)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069080"/>
            <a:ext cx="8778240" cy="10744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6C2BD9">
              <a:alpha val="10000"/>
            </a:srgbClr>
          </a:solidFill>
          <a:ln w="12700">
            <a:solidFill>
              <a:srgbClr val="6C2BD9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48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O que aprendemos hoje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002536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Encapsulamento: private + getters/setters protegem e validam dados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86584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Herança: extends reutiliza código; parent:: conecta ao pai; protected compartilha com filhas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770632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Abstração: abstract class define contrato com código compartilhado; subclasse implementa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363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15468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Interface: contrato puro — múltiplas classes, mesmo comportamento garantido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53872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POO torna o código modular, reutilizável, testável e muito mais fácil de manter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ADS — IFRS  ·  POO em PHP  ·  Exemplos Práticos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17136"/>
            <a:ext cx="7315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Instituto Federal do Rio Grande do Sul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 em PHP — Exemplos Práticos</dc:title>
  <dc:subject>PptxGenJS Presentation</dc:subject>
  <dc:creator>PptxGenJS</dc:creator>
  <cp:lastModifiedBy>PptxGenJS</cp:lastModifiedBy>
  <cp:revision>1</cp:revision>
  <dcterms:created xsi:type="dcterms:W3CDTF">2026-03-26T00:49:00Z</dcterms:created>
  <dcterms:modified xsi:type="dcterms:W3CDTF">2026-03-26T00:49:00Z</dcterms:modified>
</cp:coreProperties>
</file>